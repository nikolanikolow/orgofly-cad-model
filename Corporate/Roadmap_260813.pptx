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9" r:id="rId5"/>
    <p:sldId id="258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58" y="-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EFD545-54AB-41BA-A713-33A44084E3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5CE088-3151-4178-AAA9-8898110AD1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988D8-7AE2-42CB-A0B4-FCC6887E52AB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34DBC1-3E7A-4EBA-AA1F-2CECD1DEEC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692BE-BB18-4ED3-B05A-AC0C9B94909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AF6A09-CB58-4C1A-85E0-6B54B99FBA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364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99631F-07A9-4103-961D-4FC63F6313FA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F3384D-82D5-4D68-995A-45FCD244A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788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AA810-4EEC-4D0F-B163-DFC963816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FB6233-FC4F-4628-BA1D-2782F64945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1D367-A9C7-46F9-B78E-724D1BEC06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ADE164-D45A-44D8-82C5-2E0962BB70D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21783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B02131-22DB-4754-A433-C2056EBF5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5400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50D3D-41CA-4DC7-907E-3C00ACD28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999" y="1224000"/>
            <a:ext cx="11339999" cy="48587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6C7A0-E91C-4A95-B866-B5D3FEE09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1BA1-B199-498E-8F99-F7D1F5869B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2879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3ADE164-D45A-44D8-82C5-2E0962BB70DA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33287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BEC05-6942-6AB8-68F1-519378D94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595052"/>
            <a:ext cx="3466232" cy="540000"/>
          </a:xfrm>
        </p:spPr>
        <p:txBody>
          <a:bodyPr>
            <a:noAutofit/>
          </a:bodyPr>
          <a:lstStyle/>
          <a:p>
            <a:pPr algn="ctr"/>
            <a:r>
              <a:rPr lang="en-GB" sz="2400" dirty="0"/>
              <a:t>ORGOfly</a:t>
            </a:r>
            <a:br>
              <a:rPr lang="en-GB" sz="1400" dirty="0"/>
            </a:br>
            <a:r>
              <a:rPr lang="en-GB" sz="1400" dirty="0"/>
              <a:t>An airborne medical-logistics system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4C06D22-AD23-0EC9-9F4E-569D021D3643}"/>
              </a:ext>
            </a:extLst>
          </p:cNvPr>
          <p:cNvSpPr txBox="1">
            <a:spLocks/>
          </p:cNvSpPr>
          <p:nvPr/>
        </p:nvSpPr>
        <p:spPr>
          <a:xfrm>
            <a:off x="426000" y="3159000"/>
            <a:ext cx="11340000" cy="540000"/>
          </a:xfrm>
          <a:prstGeom prst="rect">
            <a:avLst/>
          </a:prstGeom>
        </p:spPr>
        <p:txBody>
          <a:bodyPr vert="horz" lIns="0" tIns="0" rIns="0" bIns="0" rtlCol="0" anchor="t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5400" dirty="0"/>
              <a:t>Roadmap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894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Title">
            <a:extLst>
              <a:ext uri="{FF2B5EF4-FFF2-40B4-BE49-F238E27FC236}">
                <a16:creationId xmlns:a16="http://schemas.microsoft.com/office/drawing/2014/main" id="{82336B3C-0982-49C2-85B3-D4D69E435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126" y="451907"/>
            <a:ext cx="11340000" cy="540000"/>
          </a:xfrm>
        </p:spPr>
        <p:txBody>
          <a:bodyPr/>
          <a:lstStyle/>
          <a:p>
            <a:r>
              <a:rPr lang="en-US" dirty="0"/>
              <a:t>Company Roadmap</a:t>
            </a:r>
          </a:p>
        </p:txBody>
      </p:sp>
      <p:grpSp>
        <p:nvGrpSpPr>
          <p:cNvPr id="21" name="Group 20" descr="Year 1">
            <a:extLst>
              <a:ext uri="{FF2B5EF4-FFF2-40B4-BE49-F238E27FC236}">
                <a16:creationId xmlns:a16="http://schemas.microsoft.com/office/drawing/2014/main" id="{5D2F3933-9B72-4828-BCB7-541ECBDEFC11}"/>
              </a:ext>
            </a:extLst>
          </p:cNvPr>
          <p:cNvGrpSpPr/>
          <p:nvPr/>
        </p:nvGrpSpPr>
        <p:grpSpPr>
          <a:xfrm>
            <a:off x="904696" y="5778006"/>
            <a:ext cx="2815819" cy="1070047"/>
            <a:chOff x="904696" y="5778006"/>
            <a:chExt cx="2815819" cy="1070047"/>
          </a:xfrm>
        </p:grpSpPr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74AE39C1-CE7F-4294-BA9F-DE5050CFDD2F}"/>
                </a:ext>
              </a:extLst>
            </p:cNvPr>
            <p:cNvSpPr/>
            <p:nvPr/>
          </p:nvSpPr>
          <p:spPr>
            <a:xfrm>
              <a:off x="3004439" y="6037620"/>
              <a:ext cx="256014" cy="25601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4EC46266-F9A2-46D0-9AAB-09889D0F8267}"/>
                </a:ext>
              </a:extLst>
            </p:cNvPr>
            <p:cNvSpPr/>
            <p:nvPr/>
          </p:nvSpPr>
          <p:spPr>
            <a:xfrm>
              <a:off x="2346810" y="6037620"/>
              <a:ext cx="256014" cy="25601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90488C51-8860-4A29-A9FF-840EEF3025C6}"/>
                </a:ext>
              </a:extLst>
            </p:cNvPr>
            <p:cNvSpPr/>
            <p:nvPr/>
          </p:nvSpPr>
          <p:spPr>
            <a:xfrm>
              <a:off x="1702547" y="6037620"/>
              <a:ext cx="256014" cy="25601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816A943-3130-484E-97D1-6C7917F3DD30}"/>
                </a:ext>
              </a:extLst>
            </p:cNvPr>
            <p:cNvSpPr/>
            <p:nvPr/>
          </p:nvSpPr>
          <p:spPr>
            <a:xfrm>
              <a:off x="1056583" y="6037620"/>
              <a:ext cx="256014" cy="25601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36" name="Straight Connector 35" title="q lines">
              <a:extLst>
                <a:ext uri="{FF2B5EF4-FFF2-40B4-BE49-F238E27FC236}">
                  <a16:creationId xmlns:a16="http://schemas.microsoft.com/office/drawing/2014/main" id="{095D6F0B-DF34-40DB-AB6A-1DF127E26984}"/>
                </a:ext>
              </a:extLst>
            </p:cNvPr>
            <p:cNvCxnSpPr>
              <a:cxnSpLocks/>
            </p:cNvCxnSpPr>
            <p:nvPr/>
          </p:nvCxnSpPr>
          <p:spPr>
            <a:xfrm>
              <a:off x="2475056" y="5778006"/>
              <a:ext cx="0" cy="165471"/>
            </a:xfrm>
            <a:prstGeom prst="line">
              <a:avLst/>
            </a:prstGeom>
            <a:ln cmpd="sng">
              <a:solidFill>
                <a:schemeClr val="tx1">
                  <a:lumMod val="65000"/>
                  <a:lumOff val="3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 title="q lines">
              <a:extLst>
                <a:ext uri="{FF2B5EF4-FFF2-40B4-BE49-F238E27FC236}">
                  <a16:creationId xmlns:a16="http://schemas.microsoft.com/office/drawing/2014/main" id="{4B8B0E64-F638-410E-B55B-23FF670F97FA}"/>
                </a:ext>
              </a:extLst>
            </p:cNvPr>
            <p:cNvCxnSpPr>
              <a:cxnSpLocks/>
            </p:cNvCxnSpPr>
            <p:nvPr/>
          </p:nvCxnSpPr>
          <p:spPr>
            <a:xfrm>
              <a:off x="3122338" y="5778006"/>
              <a:ext cx="0" cy="165471"/>
            </a:xfrm>
            <a:prstGeom prst="line">
              <a:avLst/>
            </a:prstGeom>
            <a:ln cmpd="sng">
              <a:solidFill>
                <a:schemeClr val="tx1">
                  <a:lumMod val="65000"/>
                  <a:lumOff val="3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2BD778E6-D334-4389-B4C0-6C793B6E1E82}"/>
                </a:ext>
              </a:extLst>
            </p:cNvPr>
            <p:cNvSpPr txBox="1"/>
            <p:nvPr/>
          </p:nvSpPr>
          <p:spPr>
            <a:xfrm>
              <a:off x="904696" y="6612316"/>
              <a:ext cx="569010" cy="2357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sz="1000" b="1" dirty="0">
                  <a:solidFill>
                    <a:schemeClr val="bg1">
                      <a:lumMod val="75000"/>
                    </a:schemeClr>
                  </a:solidFill>
                </a:rPr>
                <a:t>2026</a:t>
              </a:r>
            </a:p>
          </p:txBody>
        </p:sp>
        <p:cxnSp>
          <p:nvCxnSpPr>
            <p:cNvPr id="118" name="Straight Connector 117" title="q lines">
              <a:extLst>
                <a:ext uri="{FF2B5EF4-FFF2-40B4-BE49-F238E27FC236}">
                  <a16:creationId xmlns:a16="http://schemas.microsoft.com/office/drawing/2014/main" id="{35C4D3D7-7424-4459-8D25-38F63FBA31EE}"/>
                </a:ext>
              </a:extLst>
            </p:cNvPr>
            <p:cNvCxnSpPr>
              <a:cxnSpLocks/>
            </p:cNvCxnSpPr>
            <p:nvPr/>
          </p:nvCxnSpPr>
          <p:spPr>
            <a:xfrm>
              <a:off x="1827774" y="5778006"/>
              <a:ext cx="0" cy="165471"/>
            </a:xfrm>
            <a:prstGeom prst="line">
              <a:avLst/>
            </a:prstGeom>
            <a:ln cmpd="sng">
              <a:solidFill>
                <a:schemeClr val="tx1">
                  <a:lumMod val="65000"/>
                  <a:lumOff val="3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Rectangle: Rounded Corners 1" title="Year Bar">
              <a:extLst>
                <a:ext uri="{FF2B5EF4-FFF2-40B4-BE49-F238E27FC236}">
                  <a16:creationId xmlns:a16="http://schemas.microsoft.com/office/drawing/2014/main" id="{64E02AE9-6B6C-4B9C-ABBB-1E374B6CA82E}"/>
                </a:ext>
              </a:extLst>
            </p:cNvPr>
            <p:cNvSpPr/>
            <p:nvPr/>
          </p:nvSpPr>
          <p:spPr>
            <a:xfrm>
              <a:off x="1147186" y="6381273"/>
              <a:ext cx="2573329" cy="164859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E8CE979-A9B5-418A-BC22-CF6E42776816}"/>
                </a:ext>
              </a:extLst>
            </p:cNvPr>
            <p:cNvSpPr txBox="1"/>
            <p:nvPr/>
          </p:nvSpPr>
          <p:spPr>
            <a:xfrm>
              <a:off x="107438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Q1</a:t>
              </a:r>
              <a:endPara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DF41A29-164B-42EC-9F68-19D2E3AEC527}"/>
                </a:ext>
              </a:extLst>
            </p:cNvPr>
            <p:cNvSpPr txBox="1"/>
            <p:nvPr/>
          </p:nvSpPr>
          <p:spPr>
            <a:xfrm>
              <a:off x="172183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Q2</a:t>
              </a:r>
              <a:endPara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162BA43-FD37-4686-8437-28F117A90A25}"/>
                </a:ext>
              </a:extLst>
            </p:cNvPr>
            <p:cNvSpPr txBox="1"/>
            <p:nvPr/>
          </p:nvSpPr>
          <p:spPr>
            <a:xfrm>
              <a:off x="236928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Q3</a:t>
              </a:r>
              <a:endPara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2717FE78-5079-4505-AEB2-D90CAE956F0A}"/>
                </a:ext>
              </a:extLst>
            </p:cNvPr>
            <p:cNvSpPr txBox="1"/>
            <p:nvPr/>
          </p:nvSpPr>
          <p:spPr>
            <a:xfrm>
              <a:off x="301673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Q4</a:t>
              </a:r>
              <a:endPara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114" name="Straight Connector 113" title="q lines">
              <a:extLst>
                <a:ext uri="{FF2B5EF4-FFF2-40B4-BE49-F238E27FC236}">
                  <a16:creationId xmlns:a16="http://schemas.microsoft.com/office/drawing/2014/main" id="{6016E7CE-6835-4BB0-AABB-1CAEE51E870C}"/>
                </a:ext>
              </a:extLst>
            </p:cNvPr>
            <p:cNvCxnSpPr>
              <a:cxnSpLocks/>
            </p:cNvCxnSpPr>
            <p:nvPr/>
          </p:nvCxnSpPr>
          <p:spPr>
            <a:xfrm>
              <a:off x="1180492" y="5778006"/>
              <a:ext cx="0" cy="165471"/>
            </a:xfrm>
            <a:prstGeom prst="line">
              <a:avLst/>
            </a:prstGeom>
            <a:ln cmpd="sng">
              <a:solidFill>
                <a:schemeClr val="tx1">
                  <a:lumMod val="65000"/>
                  <a:lumOff val="3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6" name="Straight Connector 185" title="callout lines">
            <a:extLst>
              <a:ext uri="{FF2B5EF4-FFF2-40B4-BE49-F238E27FC236}">
                <a16:creationId xmlns:a16="http://schemas.microsoft.com/office/drawing/2014/main" id="{58C06FCD-B8D5-441F-8E12-DDC26E69D281}"/>
              </a:ext>
            </a:extLst>
          </p:cNvPr>
          <p:cNvCxnSpPr>
            <a:cxnSpLocks/>
          </p:cNvCxnSpPr>
          <p:nvPr/>
        </p:nvCxnSpPr>
        <p:spPr>
          <a:xfrm>
            <a:off x="1180492" y="4937760"/>
            <a:ext cx="0" cy="1005717"/>
          </a:xfrm>
          <a:prstGeom prst="line">
            <a:avLst/>
          </a:prstGeom>
          <a:ln cmpd="sng">
            <a:solidFill>
              <a:schemeClr val="tx1">
                <a:lumMod val="75000"/>
                <a:lumOff val="25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 title="Milestone">
            <a:extLst>
              <a:ext uri="{FF2B5EF4-FFF2-40B4-BE49-F238E27FC236}">
                <a16:creationId xmlns:a16="http://schemas.microsoft.com/office/drawing/2014/main" id="{6BE69F2F-25E5-4E14-9BE7-F81A1FB8E199}"/>
              </a:ext>
            </a:extLst>
          </p:cNvPr>
          <p:cNvGrpSpPr/>
          <p:nvPr/>
        </p:nvGrpSpPr>
        <p:grpSpPr>
          <a:xfrm>
            <a:off x="1180492" y="4064832"/>
            <a:ext cx="1934049" cy="1087973"/>
            <a:chOff x="1063124" y="4294604"/>
            <a:chExt cx="1578208" cy="557581"/>
          </a:xfrm>
        </p:grpSpPr>
        <p:grpSp>
          <p:nvGrpSpPr>
            <p:cNvPr id="5" name="Group 4" title="Milestone Text">
              <a:extLst>
                <a:ext uri="{FF2B5EF4-FFF2-40B4-BE49-F238E27FC236}">
                  <a16:creationId xmlns:a16="http://schemas.microsoft.com/office/drawing/2014/main" id="{115A178B-57C4-4B9D-B684-21A92431913E}"/>
                </a:ext>
              </a:extLst>
            </p:cNvPr>
            <p:cNvGrpSpPr/>
            <p:nvPr/>
          </p:nvGrpSpPr>
          <p:grpSpPr>
            <a:xfrm>
              <a:off x="1072725" y="4294604"/>
              <a:ext cx="1418533" cy="439897"/>
              <a:chOff x="1504818" y="4007948"/>
              <a:chExt cx="1418533" cy="439897"/>
            </a:xfrm>
          </p:grpSpPr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DD2C9D1-5E8D-4ED2-989C-330D6753B965}"/>
                  </a:ext>
                </a:extLst>
              </p:cNvPr>
              <p:cNvSpPr txBox="1"/>
              <p:nvPr/>
            </p:nvSpPr>
            <p:spPr>
              <a:xfrm>
                <a:off x="1504818" y="4007948"/>
                <a:ext cx="1418533" cy="2444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>
                    <a:solidFill>
                      <a:schemeClr val="bg1">
                        <a:lumMod val="85000"/>
                      </a:schemeClr>
                    </a:solidFill>
                  </a:rPr>
                  <a:t>P01 Technology </a:t>
                </a:r>
                <a:r>
                  <a:rPr lang="en-US" sz="1200" dirty="0" err="1">
                    <a:solidFill>
                      <a:schemeClr val="bg1">
                        <a:lumMod val="85000"/>
                      </a:schemeClr>
                    </a:solidFill>
                  </a:rPr>
                  <a:t>Demonstator</a:t>
                </a:r>
                <a:endParaRPr lang="en-US" sz="1200" dirty="0">
                  <a:solidFill>
                    <a:schemeClr val="bg1">
                      <a:lumMod val="85000"/>
                    </a:schemeClr>
                  </a:solidFill>
                </a:endParaRPr>
              </a:p>
              <a:p>
                <a:r>
                  <a:rPr lang="en-US" sz="700" dirty="0">
                    <a:solidFill>
                      <a:schemeClr val="bg1">
                        <a:lumMod val="85000"/>
                      </a:schemeClr>
                    </a:solidFill>
                  </a:rPr>
                  <a:t>Development and building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36E6E519-8D5B-4E7C-9E35-2BB710F5C3A8}"/>
                  </a:ext>
                </a:extLst>
              </p:cNvPr>
              <p:cNvSpPr txBox="1"/>
              <p:nvPr/>
            </p:nvSpPr>
            <p:spPr>
              <a:xfrm>
                <a:off x="1507157" y="4327699"/>
                <a:ext cx="1294781" cy="1201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r>
                  <a:rPr lang="en-US" sz="1000" dirty="0">
                    <a:solidFill>
                      <a:schemeClr val="bg1">
                        <a:lumMod val="85000"/>
                      </a:schemeClr>
                    </a:solidFill>
                  </a:rPr>
                  <a:t>Q3 2026</a:t>
                </a:r>
              </a:p>
            </p:txBody>
          </p:sp>
        </p:grpSp>
        <p:sp>
          <p:nvSpPr>
            <p:cNvPr id="113" name="Rectangle: Rounded Corners 112" title="Milestone Graphic">
              <a:extLst>
                <a:ext uri="{FF2B5EF4-FFF2-40B4-BE49-F238E27FC236}">
                  <a16:creationId xmlns:a16="http://schemas.microsoft.com/office/drawing/2014/main" id="{3BC77ADA-7AD2-4DFC-9408-57E93582FC52}"/>
                </a:ext>
              </a:extLst>
            </p:cNvPr>
            <p:cNvSpPr/>
            <p:nvPr/>
          </p:nvSpPr>
          <p:spPr>
            <a:xfrm>
              <a:off x="1063124" y="4777678"/>
              <a:ext cx="1578208" cy="74507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</p:grpSp>
      <p:grpSp>
        <p:nvGrpSpPr>
          <p:cNvPr id="22" name="Group 21" descr="Year 2">
            <a:extLst>
              <a:ext uri="{FF2B5EF4-FFF2-40B4-BE49-F238E27FC236}">
                <a16:creationId xmlns:a16="http://schemas.microsoft.com/office/drawing/2014/main" id="{B77D3ADC-4691-423D-B968-599D539C51C4}"/>
              </a:ext>
            </a:extLst>
          </p:cNvPr>
          <p:cNvGrpSpPr/>
          <p:nvPr/>
        </p:nvGrpSpPr>
        <p:grpSpPr>
          <a:xfrm>
            <a:off x="3495592" y="5778006"/>
            <a:ext cx="2828816" cy="1072235"/>
            <a:chOff x="3495592" y="5778006"/>
            <a:chExt cx="2828816" cy="1072235"/>
          </a:xfrm>
        </p:grpSpPr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DDADAC53-FEC9-400E-B7FC-72F25EF0FE21}"/>
                </a:ext>
              </a:extLst>
            </p:cNvPr>
            <p:cNvSpPr/>
            <p:nvPr/>
          </p:nvSpPr>
          <p:spPr>
            <a:xfrm>
              <a:off x="5585704" y="6037620"/>
              <a:ext cx="256014" cy="25601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EC0BAC80-DECA-4286-9763-E1B32B824792}"/>
                </a:ext>
              </a:extLst>
            </p:cNvPr>
            <p:cNvSpPr/>
            <p:nvPr/>
          </p:nvSpPr>
          <p:spPr>
            <a:xfrm>
              <a:off x="4936679" y="6037620"/>
              <a:ext cx="256014" cy="25601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83C4B4F8-27D7-41DD-896D-A1B91FF462FD}"/>
                </a:ext>
              </a:extLst>
            </p:cNvPr>
            <p:cNvSpPr/>
            <p:nvPr/>
          </p:nvSpPr>
          <p:spPr>
            <a:xfrm>
              <a:off x="4300157" y="6037620"/>
              <a:ext cx="256014" cy="25601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AE29C92D-0A5A-405A-B0B6-9115A90C3CB7}"/>
                </a:ext>
              </a:extLst>
            </p:cNvPr>
            <p:cNvSpPr/>
            <p:nvPr/>
          </p:nvSpPr>
          <p:spPr>
            <a:xfrm>
              <a:off x="3642967" y="6037620"/>
              <a:ext cx="256014" cy="25601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9" name="Straight Connector 38" title="q lines">
              <a:extLst>
                <a:ext uri="{FF2B5EF4-FFF2-40B4-BE49-F238E27FC236}">
                  <a16:creationId xmlns:a16="http://schemas.microsoft.com/office/drawing/2014/main" id="{8CEE23F6-603B-4DB5-A968-8F086AA2AF53}"/>
                </a:ext>
              </a:extLst>
            </p:cNvPr>
            <p:cNvCxnSpPr>
              <a:cxnSpLocks/>
            </p:cNvCxnSpPr>
            <p:nvPr/>
          </p:nvCxnSpPr>
          <p:spPr>
            <a:xfrm>
              <a:off x="4416902" y="5778006"/>
              <a:ext cx="0" cy="165471"/>
            </a:xfrm>
            <a:prstGeom prst="line">
              <a:avLst/>
            </a:prstGeom>
            <a:ln cmpd="sng">
              <a:solidFill>
                <a:schemeClr val="tx1">
                  <a:lumMod val="65000"/>
                  <a:lumOff val="3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 title="q lines">
              <a:extLst>
                <a:ext uri="{FF2B5EF4-FFF2-40B4-BE49-F238E27FC236}">
                  <a16:creationId xmlns:a16="http://schemas.microsoft.com/office/drawing/2014/main" id="{B0EC7A32-A13D-40FD-8FCB-9A2616556D19}"/>
                </a:ext>
              </a:extLst>
            </p:cNvPr>
            <p:cNvCxnSpPr>
              <a:cxnSpLocks/>
            </p:cNvCxnSpPr>
            <p:nvPr/>
          </p:nvCxnSpPr>
          <p:spPr>
            <a:xfrm>
              <a:off x="5064184" y="5778006"/>
              <a:ext cx="0" cy="165471"/>
            </a:xfrm>
            <a:prstGeom prst="line">
              <a:avLst/>
            </a:prstGeom>
            <a:ln cmpd="sng">
              <a:solidFill>
                <a:schemeClr val="tx1">
                  <a:lumMod val="65000"/>
                  <a:lumOff val="3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 title="q lines">
              <a:extLst>
                <a:ext uri="{FF2B5EF4-FFF2-40B4-BE49-F238E27FC236}">
                  <a16:creationId xmlns:a16="http://schemas.microsoft.com/office/drawing/2014/main" id="{662638A0-3098-431F-BE5E-612EF4623E02}"/>
                </a:ext>
              </a:extLst>
            </p:cNvPr>
            <p:cNvCxnSpPr>
              <a:cxnSpLocks/>
            </p:cNvCxnSpPr>
            <p:nvPr/>
          </p:nvCxnSpPr>
          <p:spPr>
            <a:xfrm>
              <a:off x="5711466" y="5778006"/>
              <a:ext cx="0" cy="165471"/>
            </a:xfrm>
            <a:prstGeom prst="line">
              <a:avLst/>
            </a:prstGeom>
            <a:ln cmpd="sng">
              <a:solidFill>
                <a:schemeClr val="tx1">
                  <a:lumMod val="65000"/>
                  <a:lumOff val="3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9E24B3E5-9E8A-4B3A-ADB6-4481250B3F2A}"/>
                </a:ext>
              </a:extLst>
            </p:cNvPr>
            <p:cNvSpPr txBox="1"/>
            <p:nvPr/>
          </p:nvSpPr>
          <p:spPr>
            <a:xfrm>
              <a:off x="3495592" y="6614504"/>
              <a:ext cx="569010" cy="2357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sz="1000" b="1" dirty="0">
                  <a:solidFill>
                    <a:schemeClr val="bg1">
                      <a:lumMod val="75000"/>
                    </a:schemeClr>
                  </a:solidFill>
                </a:rPr>
                <a:t>2027</a:t>
              </a:r>
            </a:p>
          </p:txBody>
        </p:sp>
        <p:sp>
          <p:nvSpPr>
            <p:cNvPr id="189" name="Rectangle: Rounded Corners 188" title="Year Bar">
              <a:extLst>
                <a:ext uri="{FF2B5EF4-FFF2-40B4-BE49-F238E27FC236}">
                  <a16:creationId xmlns:a16="http://schemas.microsoft.com/office/drawing/2014/main" id="{4216F653-445A-48AE-9E7F-2BCB19F1649E}"/>
                </a:ext>
              </a:extLst>
            </p:cNvPr>
            <p:cNvSpPr/>
            <p:nvPr/>
          </p:nvSpPr>
          <p:spPr>
            <a:xfrm>
              <a:off x="3751079" y="6381864"/>
              <a:ext cx="2573329" cy="164859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316E8E00-CDAC-4884-B354-EEC46B99951A}"/>
                </a:ext>
              </a:extLst>
            </p:cNvPr>
            <p:cNvSpPr txBox="1"/>
            <p:nvPr/>
          </p:nvSpPr>
          <p:spPr>
            <a:xfrm>
              <a:off x="366418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Q1</a:t>
              </a:r>
              <a:endPara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9123C15-08DD-4459-98C8-FB1D88A48434}"/>
                </a:ext>
              </a:extLst>
            </p:cNvPr>
            <p:cNvSpPr txBox="1"/>
            <p:nvPr/>
          </p:nvSpPr>
          <p:spPr>
            <a:xfrm>
              <a:off x="431163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Q2</a:t>
              </a:r>
              <a:endPara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702C22D6-E9B8-49C2-813B-3220EF5976F5}"/>
                </a:ext>
              </a:extLst>
            </p:cNvPr>
            <p:cNvSpPr txBox="1"/>
            <p:nvPr/>
          </p:nvSpPr>
          <p:spPr>
            <a:xfrm>
              <a:off x="495908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Q3</a:t>
              </a:r>
              <a:endPara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71DFD606-8479-465C-B5A5-ACC2FD6A05AD}"/>
                </a:ext>
              </a:extLst>
            </p:cNvPr>
            <p:cNvSpPr txBox="1"/>
            <p:nvPr/>
          </p:nvSpPr>
          <p:spPr>
            <a:xfrm>
              <a:off x="560653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Q4</a:t>
              </a:r>
              <a:endPara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115" name="Straight Connector 114" title="q lines">
              <a:extLst>
                <a:ext uri="{FF2B5EF4-FFF2-40B4-BE49-F238E27FC236}">
                  <a16:creationId xmlns:a16="http://schemas.microsoft.com/office/drawing/2014/main" id="{5C8E95F6-C78E-4027-9F74-5B2D4ABF6B49}"/>
                </a:ext>
              </a:extLst>
            </p:cNvPr>
            <p:cNvCxnSpPr>
              <a:cxnSpLocks/>
            </p:cNvCxnSpPr>
            <p:nvPr/>
          </p:nvCxnSpPr>
          <p:spPr>
            <a:xfrm>
              <a:off x="3769620" y="5778006"/>
              <a:ext cx="0" cy="165471"/>
            </a:xfrm>
            <a:prstGeom prst="line">
              <a:avLst/>
            </a:prstGeom>
            <a:ln cmpd="sng">
              <a:solidFill>
                <a:schemeClr val="tx1">
                  <a:lumMod val="65000"/>
                  <a:lumOff val="3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4" name="Straight Connector 153" title="callout lines">
            <a:extLst>
              <a:ext uri="{FF2B5EF4-FFF2-40B4-BE49-F238E27FC236}">
                <a16:creationId xmlns:a16="http://schemas.microsoft.com/office/drawing/2014/main" id="{BDE716C9-4F7D-4C14-9DD7-E104B8688070}"/>
              </a:ext>
            </a:extLst>
          </p:cNvPr>
          <p:cNvCxnSpPr>
            <a:cxnSpLocks/>
          </p:cNvCxnSpPr>
          <p:nvPr/>
        </p:nvCxnSpPr>
        <p:spPr>
          <a:xfrm>
            <a:off x="3769618" y="4560093"/>
            <a:ext cx="0" cy="1383384"/>
          </a:xfrm>
          <a:prstGeom prst="line">
            <a:avLst/>
          </a:prstGeom>
          <a:ln cmpd="sng">
            <a:solidFill>
              <a:schemeClr val="tx1">
                <a:lumMod val="75000"/>
                <a:lumOff val="25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 title="Milestone">
            <a:extLst>
              <a:ext uri="{FF2B5EF4-FFF2-40B4-BE49-F238E27FC236}">
                <a16:creationId xmlns:a16="http://schemas.microsoft.com/office/drawing/2014/main" id="{0C0EC973-1339-40A2-8A48-7E952A86C663}"/>
              </a:ext>
            </a:extLst>
          </p:cNvPr>
          <p:cNvGrpSpPr/>
          <p:nvPr/>
        </p:nvGrpSpPr>
        <p:grpSpPr>
          <a:xfrm>
            <a:off x="3788599" y="3350879"/>
            <a:ext cx="1299208" cy="1269884"/>
            <a:chOff x="3242137" y="3849291"/>
            <a:chExt cx="1661135" cy="552580"/>
          </a:xfrm>
        </p:grpSpPr>
        <p:grpSp>
          <p:nvGrpSpPr>
            <p:cNvPr id="120" name="Group 119" title="Milestone Text">
              <a:extLst>
                <a:ext uri="{FF2B5EF4-FFF2-40B4-BE49-F238E27FC236}">
                  <a16:creationId xmlns:a16="http://schemas.microsoft.com/office/drawing/2014/main" id="{B15CF98A-C041-4C54-83E0-D6B1A0165558}"/>
                </a:ext>
              </a:extLst>
            </p:cNvPr>
            <p:cNvGrpSpPr/>
            <p:nvPr/>
          </p:nvGrpSpPr>
          <p:grpSpPr>
            <a:xfrm>
              <a:off x="3595028" y="3849291"/>
              <a:ext cx="1308244" cy="489920"/>
              <a:chOff x="2030601" y="2362900"/>
              <a:chExt cx="1308244" cy="489920"/>
            </a:xfrm>
          </p:grpSpPr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64C8657-37CD-432B-AD71-7255D32855F5}"/>
                  </a:ext>
                </a:extLst>
              </p:cNvPr>
              <p:cNvSpPr txBox="1"/>
              <p:nvPr/>
            </p:nvSpPr>
            <p:spPr>
              <a:xfrm>
                <a:off x="2030601" y="2362900"/>
                <a:ext cx="1308244" cy="3348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>
                    <a:solidFill>
                      <a:schemeClr val="bg1">
                        <a:lumMod val="85000"/>
                      </a:schemeClr>
                    </a:solidFill>
                  </a:rPr>
                  <a:t>S01 Medical Logistics Demonstrator</a:t>
                </a:r>
                <a:br>
                  <a:rPr lang="en-US" sz="1400" dirty="0">
                    <a:solidFill>
                      <a:schemeClr val="bg1">
                        <a:lumMod val="85000"/>
                      </a:schemeClr>
                    </a:solidFill>
                  </a:rPr>
                </a:br>
                <a:r>
                  <a:rPr lang="en-US" sz="700" dirty="0">
                    <a:solidFill>
                      <a:schemeClr val="bg1">
                        <a:lumMod val="85000"/>
                      </a:schemeClr>
                    </a:solidFill>
                  </a:rPr>
                  <a:t>based on P01; fully electric</a:t>
                </a:r>
                <a:endParaRPr lang="en-US" sz="8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0207607D-0B96-4C68-979E-099560520B82}"/>
                  </a:ext>
                </a:extLst>
              </p:cNvPr>
              <p:cNvSpPr txBox="1"/>
              <p:nvPr/>
            </p:nvSpPr>
            <p:spPr>
              <a:xfrm>
                <a:off x="2038128" y="2711813"/>
                <a:ext cx="1294780" cy="14100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r>
                  <a:rPr lang="en-US" sz="1000" dirty="0">
                    <a:solidFill>
                      <a:schemeClr val="bg1">
                        <a:lumMod val="85000"/>
                      </a:schemeClr>
                    </a:solidFill>
                  </a:rPr>
                  <a:t>Q2 2027</a:t>
                </a:r>
              </a:p>
            </p:txBody>
          </p:sp>
        </p:grpSp>
        <p:sp>
          <p:nvSpPr>
            <p:cNvPr id="139" name="Rectangle: Rounded Corners 138" title="Milestone Graphic">
              <a:extLst>
                <a:ext uri="{FF2B5EF4-FFF2-40B4-BE49-F238E27FC236}">
                  <a16:creationId xmlns:a16="http://schemas.microsoft.com/office/drawing/2014/main" id="{96CB11CB-601A-42B3-A020-CB1A4A10F2CD}"/>
                </a:ext>
              </a:extLst>
            </p:cNvPr>
            <p:cNvSpPr>
              <a:spLocks/>
            </p:cNvSpPr>
            <p:nvPr/>
          </p:nvSpPr>
          <p:spPr>
            <a:xfrm>
              <a:off x="3242137" y="4339211"/>
              <a:ext cx="1630930" cy="6266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</p:grpSp>
      <p:grpSp>
        <p:nvGrpSpPr>
          <p:cNvPr id="23" name="Group 22" descr="Year 3&#10;">
            <a:extLst>
              <a:ext uri="{FF2B5EF4-FFF2-40B4-BE49-F238E27FC236}">
                <a16:creationId xmlns:a16="http://schemas.microsoft.com/office/drawing/2014/main" id="{CEE15DC0-A896-4EAF-85E8-9DC9DB979B84}"/>
              </a:ext>
            </a:extLst>
          </p:cNvPr>
          <p:cNvGrpSpPr/>
          <p:nvPr/>
        </p:nvGrpSpPr>
        <p:grpSpPr>
          <a:xfrm>
            <a:off x="6076126" y="5767846"/>
            <a:ext cx="2852176" cy="1071556"/>
            <a:chOff x="6076126" y="5778006"/>
            <a:chExt cx="2852176" cy="1071556"/>
          </a:xfrm>
        </p:grpSpPr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CD235FFC-6A0E-47AF-AC8F-20677EB444FC}"/>
                </a:ext>
              </a:extLst>
            </p:cNvPr>
            <p:cNvSpPr/>
            <p:nvPr/>
          </p:nvSpPr>
          <p:spPr>
            <a:xfrm>
              <a:off x="8186738" y="6037620"/>
              <a:ext cx="256014" cy="25601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D7F66751-5B2A-464C-A0AD-37B9D94CCC55}"/>
                </a:ext>
              </a:extLst>
            </p:cNvPr>
            <p:cNvSpPr/>
            <p:nvPr/>
          </p:nvSpPr>
          <p:spPr>
            <a:xfrm>
              <a:off x="7533921" y="6037620"/>
              <a:ext cx="256014" cy="25601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2BB6040F-EB4E-4310-BF98-25F47485E087}"/>
                </a:ext>
              </a:extLst>
            </p:cNvPr>
            <p:cNvSpPr/>
            <p:nvPr/>
          </p:nvSpPr>
          <p:spPr>
            <a:xfrm>
              <a:off x="6882642" y="6037620"/>
              <a:ext cx="256014" cy="25601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CBAEC703-69EC-45A2-BB54-7EAC7D4E5E9C}"/>
                </a:ext>
              </a:extLst>
            </p:cNvPr>
            <p:cNvSpPr/>
            <p:nvPr/>
          </p:nvSpPr>
          <p:spPr>
            <a:xfrm>
              <a:off x="6231556" y="6037620"/>
              <a:ext cx="256014" cy="25601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3" name="Straight Connector 52" title="q lines">
              <a:extLst>
                <a:ext uri="{FF2B5EF4-FFF2-40B4-BE49-F238E27FC236}">
                  <a16:creationId xmlns:a16="http://schemas.microsoft.com/office/drawing/2014/main" id="{1B503BE8-868F-4660-8AFA-BE353AB48B68}"/>
                </a:ext>
              </a:extLst>
            </p:cNvPr>
            <p:cNvCxnSpPr>
              <a:cxnSpLocks/>
            </p:cNvCxnSpPr>
            <p:nvPr/>
          </p:nvCxnSpPr>
          <p:spPr>
            <a:xfrm>
              <a:off x="8300594" y="5778006"/>
              <a:ext cx="0" cy="165471"/>
            </a:xfrm>
            <a:prstGeom prst="line">
              <a:avLst/>
            </a:prstGeom>
            <a:ln cmpd="sng">
              <a:solidFill>
                <a:schemeClr val="tx1">
                  <a:lumMod val="65000"/>
                  <a:lumOff val="3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3984115C-22F4-41EB-BF04-E71D3503F2B5}"/>
                </a:ext>
              </a:extLst>
            </p:cNvPr>
            <p:cNvSpPr txBox="1"/>
            <p:nvPr/>
          </p:nvSpPr>
          <p:spPr>
            <a:xfrm>
              <a:off x="6076126" y="6613825"/>
              <a:ext cx="569010" cy="2357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sz="1000" b="1" dirty="0">
                  <a:solidFill>
                    <a:schemeClr val="bg1">
                      <a:lumMod val="75000"/>
                    </a:schemeClr>
                  </a:solidFill>
                </a:rPr>
                <a:t>2028</a:t>
              </a:r>
            </a:p>
          </p:txBody>
        </p:sp>
        <p:cxnSp>
          <p:nvCxnSpPr>
            <p:cNvPr id="156" name="Straight Connector 155" title="q lines">
              <a:extLst>
                <a:ext uri="{FF2B5EF4-FFF2-40B4-BE49-F238E27FC236}">
                  <a16:creationId xmlns:a16="http://schemas.microsoft.com/office/drawing/2014/main" id="{AB0F6D18-7A1E-4D91-B120-E2079E0DA1A7}"/>
                </a:ext>
              </a:extLst>
            </p:cNvPr>
            <p:cNvCxnSpPr>
              <a:cxnSpLocks/>
            </p:cNvCxnSpPr>
            <p:nvPr/>
          </p:nvCxnSpPr>
          <p:spPr>
            <a:xfrm>
              <a:off x="7006030" y="5778006"/>
              <a:ext cx="0" cy="165471"/>
            </a:xfrm>
            <a:prstGeom prst="line">
              <a:avLst/>
            </a:prstGeom>
            <a:ln cmpd="sng">
              <a:solidFill>
                <a:schemeClr val="tx1">
                  <a:lumMod val="65000"/>
                  <a:lumOff val="3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Rectangle: Rounded Corners 189" title="Year Bar">
              <a:extLst>
                <a:ext uri="{FF2B5EF4-FFF2-40B4-BE49-F238E27FC236}">
                  <a16:creationId xmlns:a16="http://schemas.microsoft.com/office/drawing/2014/main" id="{A39C3188-7311-466A-8363-02881CE1722D}"/>
                </a:ext>
              </a:extLst>
            </p:cNvPr>
            <p:cNvSpPr/>
            <p:nvPr/>
          </p:nvSpPr>
          <p:spPr>
            <a:xfrm>
              <a:off x="6354973" y="6375207"/>
              <a:ext cx="2573329" cy="16485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16EAD50A-0933-4C9C-95E6-08A076B32041}"/>
                </a:ext>
              </a:extLst>
            </p:cNvPr>
            <p:cNvSpPr txBox="1"/>
            <p:nvPr/>
          </p:nvSpPr>
          <p:spPr>
            <a:xfrm>
              <a:off x="625398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Q1</a:t>
              </a:r>
              <a:endPara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1A5CBF37-8585-4DC5-9107-7C048ACE4F6B}"/>
                </a:ext>
              </a:extLst>
            </p:cNvPr>
            <p:cNvSpPr txBox="1"/>
            <p:nvPr/>
          </p:nvSpPr>
          <p:spPr>
            <a:xfrm>
              <a:off x="690143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Q2</a:t>
              </a:r>
              <a:endPara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1B2A0732-77CE-4CCD-9584-C8A3BD068222}"/>
                </a:ext>
              </a:extLst>
            </p:cNvPr>
            <p:cNvSpPr txBox="1"/>
            <p:nvPr/>
          </p:nvSpPr>
          <p:spPr>
            <a:xfrm>
              <a:off x="754888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Q3</a:t>
              </a:r>
              <a:endPara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D56C61BF-4889-44FB-9251-6B314A0F79CE}"/>
                </a:ext>
              </a:extLst>
            </p:cNvPr>
            <p:cNvSpPr txBox="1"/>
            <p:nvPr/>
          </p:nvSpPr>
          <p:spPr>
            <a:xfrm>
              <a:off x="819633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Q4</a:t>
              </a:r>
              <a:endPara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116" name="Straight Connector 115" title="q lines">
              <a:extLst>
                <a:ext uri="{FF2B5EF4-FFF2-40B4-BE49-F238E27FC236}">
                  <a16:creationId xmlns:a16="http://schemas.microsoft.com/office/drawing/2014/main" id="{4DA2396D-B4BC-4F88-8123-D131FA8D902B}"/>
                </a:ext>
              </a:extLst>
            </p:cNvPr>
            <p:cNvCxnSpPr>
              <a:cxnSpLocks/>
            </p:cNvCxnSpPr>
            <p:nvPr/>
          </p:nvCxnSpPr>
          <p:spPr>
            <a:xfrm>
              <a:off x="6358748" y="5778006"/>
              <a:ext cx="0" cy="165471"/>
            </a:xfrm>
            <a:prstGeom prst="line">
              <a:avLst/>
            </a:prstGeom>
            <a:ln cmpd="sng">
              <a:solidFill>
                <a:schemeClr val="tx1">
                  <a:lumMod val="65000"/>
                  <a:lumOff val="3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 title="q lines">
              <a:extLst>
                <a:ext uri="{FF2B5EF4-FFF2-40B4-BE49-F238E27FC236}">
                  <a16:creationId xmlns:a16="http://schemas.microsoft.com/office/drawing/2014/main" id="{9BE12822-D1FA-4F04-BA60-04815B2B1B4D}"/>
                </a:ext>
              </a:extLst>
            </p:cNvPr>
            <p:cNvCxnSpPr>
              <a:cxnSpLocks/>
            </p:cNvCxnSpPr>
            <p:nvPr/>
          </p:nvCxnSpPr>
          <p:spPr>
            <a:xfrm>
              <a:off x="7653312" y="5778006"/>
              <a:ext cx="0" cy="165471"/>
            </a:xfrm>
            <a:prstGeom prst="line">
              <a:avLst/>
            </a:prstGeom>
            <a:ln cmpd="sng">
              <a:solidFill>
                <a:schemeClr val="tx1">
                  <a:lumMod val="65000"/>
                  <a:lumOff val="3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5" name="Straight Connector 154" title="callout lines">
            <a:extLst>
              <a:ext uri="{FF2B5EF4-FFF2-40B4-BE49-F238E27FC236}">
                <a16:creationId xmlns:a16="http://schemas.microsoft.com/office/drawing/2014/main" id="{975C6F4D-FEC6-41F0-80BD-1FBB84859CE0}"/>
              </a:ext>
            </a:extLst>
          </p:cNvPr>
          <p:cNvCxnSpPr>
            <a:cxnSpLocks/>
          </p:cNvCxnSpPr>
          <p:nvPr/>
        </p:nvCxnSpPr>
        <p:spPr>
          <a:xfrm>
            <a:off x="6358748" y="4027988"/>
            <a:ext cx="0" cy="1920020"/>
          </a:xfrm>
          <a:prstGeom prst="line">
            <a:avLst/>
          </a:prstGeom>
          <a:ln cmpd="sng">
            <a:solidFill>
              <a:schemeClr val="tx1">
                <a:lumMod val="75000"/>
                <a:lumOff val="25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 title="callout lines">
            <a:extLst>
              <a:ext uri="{FF2B5EF4-FFF2-40B4-BE49-F238E27FC236}">
                <a16:creationId xmlns:a16="http://schemas.microsoft.com/office/drawing/2014/main" id="{F54047B2-9C08-4A8C-A924-AA676C29FB41}"/>
              </a:ext>
            </a:extLst>
          </p:cNvPr>
          <p:cNvCxnSpPr>
            <a:cxnSpLocks/>
          </p:cNvCxnSpPr>
          <p:nvPr/>
        </p:nvCxnSpPr>
        <p:spPr>
          <a:xfrm>
            <a:off x="7653312" y="3471346"/>
            <a:ext cx="0" cy="2476662"/>
          </a:xfrm>
          <a:prstGeom prst="line">
            <a:avLst/>
          </a:prstGeom>
          <a:ln cmpd="sng">
            <a:solidFill>
              <a:schemeClr val="tx1">
                <a:lumMod val="75000"/>
                <a:lumOff val="25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 descr="Year 4">
            <a:extLst>
              <a:ext uri="{FF2B5EF4-FFF2-40B4-BE49-F238E27FC236}">
                <a16:creationId xmlns:a16="http://schemas.microsoft.com/office/drawing/2014/main" id="{3918C8B4-69B8-499D-A277-18AE7198594A}"/>
              </a:ext>
            </a:extLst>
          </p:cNvPr>
          <p:cNvGrpSpPr/>
          <p:nvPr/>
        </p:nvGrpSpPr>
        <p:grpSpPr>
          <a:xfrm>
            <a:off x="8665694" y="5778006"/>
            <a:ext cx="2866501" cy="1071556"/>
            <a:chOff x="8665694" y="5778006"/>
            <a:chExt cx="2866501" cy="1071556"/>
          </a:xfrm>
        </p:grpSpPr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46B7F3B1-E639-4E45-8C09-EEE9623F5744}"/>
                </a:ext>
              </a:extLst>
            </p:cNvPr>
            <p:cNvSpPr/>
            <p:nvPr/>
          </p:nvSpPr>
          <p:spPr>
            <a:xfrm>
              <a:off x="10773302" y="6037620"/>
              <a:ext cx="256014" cy="25601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22990B42-96AA-4CDA-BEF5-915FC5414678}"/>
                </a:ext>
              </a:extLst>
            </p:cNvPr>
            <p:cNvSpPr/>
            <p:nvPr/>
          </p:nvSpPr>
          <p:spPr>
            <a:xfrm>
              <a:off x="10122723" y="6037620"/>
              <a:ext cx="256014" cy="25601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0B111BE8-D235-4A79-B144-43953D0D52B3}"/>
                </a:ext>
              </a:extLst>
            </p:cNvPr>
            <p:cNvSpPr/>
            <p:nvPr/>
          </p:nvSpPr>
          <p:spPr>
            <a:xfrm>
              <a:off x="9475478" y="6037620"/>
              <a:ext cx="256014" cy="25601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04E8807B-9D7A-452A-B3FB-3E2BE3E94F86}"/>
                </a:ext>
              </a:extLst>
            </p:cNvPr>
            <p:cNvSpPr/>
            <p:nvPr/>
          </p:nvSpPr>
          <p:spPr>
            <a:xfrm>
              <a:off x="8822434" y="6037620"/>
              <a:ext cx="256014" cy="25601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384B4D5E-DF22-4556-9F7B-E0627361D734}"/>
                </a:ext>
              </a:extLst>
            </p:cNvPr>
            <p:cNvSpPr txBox="1"/>
            <p:nvPr/>
          </p:nvSpPr>
          <p:spPr>
            <a:xfrm>
              <a:off x="8665694" y="6613825"/>
              <a:ext cx="569010" cy="2357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sz="1000" b="1" dirty="0">
                  <a:solidFill>
                    <a:schemeClr val="bg1">
                      <a:lumMod val="75000"/>
                    </a:schemeClr>
                  </a:solidFill>
                </a:rPr>
                <a:t>2029</a:t>
              </a:r>
            </a:p>
          </p:txBody>
        </p:sp>
        <p:cxnSp>
          <p:nvCxnSpPr>
            <p:cNvPr id="168" name="Straight Connector 167" title="q lines">
              <a:extLst>
                <a:ext uri="{FF2B5EF4-FFF2-40B4-BE49-F238E27FC236}">
                  <a16:creationId xmlns:a16="http://schemas.microsoft.com/office/drawing/2014/main" id="{8E9F4AD8-209B-4EEC-A9BA-70788AD0F9CD}"/>
                </a:ext>
              </a:extLst>
            </p:cNvPr>
            <p:cNvCxnSpPr>
              <a:cxnSpLocks/>
            </p:cNvCxnSpPr>
            <p:nvPr/>
          </p:nvCxnSpPr>
          <p:spPr>
            <a:xfrm>
              <a:off x="10889715" y="5778006"/>
              <a:ext cx="0" cy="165471"/>
            </a:xfrm>
            <a:prstGeom prst="line">
              <a:avLst/>
            </a:prstGeom>
            <a:ln cmpd="sng">
              <a:solidFill>
                <a:schemeClr val="tx1">
                  <a:lumMod val="65000"/>
                  <a:lumOff val="3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 title="q lines">
              <a:extLst>
                <a:ext uri="{FF2B5EF4-FFF2-40B4-BE49-F238E27FC236}">
                  <a16:creationId xmlns:a16="http://schemas.microsoft.com/office/drawing/2014/main" id="{50ED100A-CA03-4917-8145-C5BDF28B1587}"/>
                </a:ext>
              </a:extLst>
            </p:cNvPr>
            <p:cNvCxnSpPr>
              <a:cxnSpLocks/>
            </p:cNvCxnSpPr>
            <p:nvPr/>
          </p:nvCxnSpPr>
          <p:spPr>
            <a:xfrm>
              <a:off x="9595158" y="5778006"/>
              <a:ext cx="0" cy="165471"/>
            </a:xfrm>
            <a:prstGeom prst="line">
              <a:avLst/>
            </a:prstGeom>
            <a:ln cmpd="sng">
              <a:solidFill>
                <a:schemeClr val="tx1">
                  <a:lumMod val="65000"/>
                  <a:lumOff val="3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Rectangle: Rounded Corners 190" title="Year Bar">
              <a:extLst>
                <a:ext uri="{FF2B5EF4-FFF2-40B4-BE49-F238E27FC236}">
                  <a16:creationId xmlns:a16="http://schemas.microsoft.com/office/drawing/2014/main" id="{45AC82F1-31F7-4BDE-BF7C-2E9A090107E7}"/>
                </a:ext>
              </a:extLst>
            </p:cNvPr>
            <p:cNvSpPr/>
            <p:nvPr/>
          </p:nvSpPr>
          <p:spPr>
            <a:xfrm>
              <a:off x="8958866" y="6375798"/>
              <a:ext cx="2573329" cy="164859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611F0B67-8314-4DF8-99E7-108753641C77}"/>
                </a:ext>
              </a:extLst>
            </p:cNvPr>
            <p:cNvSpPr txBox="1"/>
            <p:nvPr/>
          </p:nvSpPr>
          <p:spPr>
            <a:xfrm>
              <a:off x="884378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Q1</a:t>
              </a:r>
              <a:endPara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BAA83CD7-1992-4845-9916-79B3A6737423}"/>
                </a:ext>
              </a:extLst>
            </p:cNvPr>
            <p:cNvSpPr txBox="1"/>
            <p:nvPr/>
          </p:nvSpPr>
          <p:spPr>
            <a:xfrm>
              <a:off x="949123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Q2</a:t>
              </a:r>
              <a:endPara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2F2B6738-A856-4DBF-B465-BC5964B0D7BC}"/>
                </a:ext>
              </a:extLst>
            </p:cNvPr>
            <p:cNvSpPr txBox="1"/>
            <p:nvPr/>
          </p:nvSpPr>
          <p:spPr>
            <a:xfrm>
              <a:off x="1013868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Q3</a:t>
              </a:r>
              <a:endPara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C941D233-C1E8-47A4-83C7-CEDB158017C3}"/>
                </a:ext>
              </a:extLst>
            </p:cNvPr>
            <p:cNvSpPr txBox="1"/>
            <p:nvPr/>
          </p:nvSpPr>
          <p:spPr>
            <a:xfrm>
              <a:off x="1078613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Q4</a:t>
              </a:r>
              <a:endPara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119" name="Straight Connector 118" title="q lines">
              <a:extLst>
                <a:ext uri="{FF2B5EF4-FFF2-40B4-BE49-F238E27FC236}">
                  <a16:creationId xmlns:a16="http://schemas.microsoft.com/office/drawing/2014/main" id="{B2F5D208-76CB-4E99-B318-4CFFE5BABDD1}"/>
                </a:ext>
              </a:extLst>
            </p:cNvPr>
            <p:cNvCxnSpPr>
              <a:cxnSpLocks/>
            </p:cNvCxnSpPr>
            <p:nvPr/>
          </p:nvCxnSpPr>
          <p:spPr>
            <a:xfrm>
              <a:off x="8947876" y="5778006"/>
              <a:ext cx="0" cy="165471"/>
            </a:xfrm>
            <a:prstGeom prst="line">
              <a:avLst/>
            </a:prstGeom>
            <a:ln cmpd="sng">
              <a:solidFill>
                <a:schemeClr val="tx1">
                  <a:lumMod val="65000"/>
                  <a:lumOff val="3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 title="q lines">
              <a:extLst>
                <a:ext uri="{FF2B5EF4-FFF2-40B4-BE49-F238E27FC236}">
                  <a16:creationId xmlns:a16="http://schemas.microsoft.com/office/drawing/2014/main" id="{B7494A14-757D-4771-B974-AF9C4A42FDE7}"/>
                </a:ext>
              </a:extLst>
            </p:cNvPr>
            <p:cNvCxnSpPr>
              <a:cxnSpLocks/>
            </p:cNvCxnSpPr>
            <p:nvPr/>
          </p:nvCxnSpPr>
          <p:spPr>
            <a:xfrm>
              <a:off x="10242440" y="5778006"/>
              <a:ext cx="0" cy="165471"/>
            </a:xfrm>
            <a:prstGeom prst="line">
              <a:avLst/>
            </a:prstGeom>
            <a:ln cmpd="sng">
              <a:solidFill>
                <a:schemeClr val="tx1">
                  <a:lumMod val="65000"/>
                  <a:lumOff val="3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7" name="Straight Connector 176" title="callout lines">
            <a:extLst>
              <a:ext uri="{FF2B5EF4-FFF2-40B4-BE49-F238E27FC236}">
                <a16:creationId xmlns:a16="http://schemas.microsoft.com/office/drawing/2014/main" id="{748624D8-A75F-4E91-B76D-0419E48EB017}"/>
              </a:ext>
            </a:extLst>
          </p:cNvPr>
          <p:cNvCxnSpPr>
            <a:cxnSpLocks/>
          </p:cNvCxnSpPr>
          <p:nvPr/>
        </p:nvCxnSpPr>
        <p:spPr>
          <a:xfrm>
            <a:off x="8947876" y="2011680"/>
            <a:ext cx="0" cy="3936328"/>
          </a:xfrm>
          <a:prstGeom prst="line">
            <a:avLst/>
          </a:prstGeom>
          <a:ln cmpd="sng">
            <a:solidFill>
              <a:schemeClr val="tx1">
                <a:lumMod val="75000"/>
                <a:lumOff val="25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 title="callout lines">
            <a:extLst>
              <a:ext uri="{FF2B5EF4-FFF2-40B4-BE49-F238E27FC236}">
                <a16:creationId xmlns:a16="http://schemas.microsoft.com/office/drawing/2014/main" id="{D8CC268F-92F4-41DE-866F-F6BF296668DE}"/>
              </a:ext>
            </a:extLst>
          </p:cNvPr>
          <p:cNvCxnSpPr>
            <a:cxnSpLocks/>
          </p:cNvCxnSpPr>
          <p:nvPr/>
        </p:nvCxnSpPr>
        <p:spPr>
          <a:xfrm>
            <a:off x="10242440" y="3108996"/>
            <a:ext cx="0" cy="2839012"/>
          </a:xfrm>
          <a:prstGeom prst="line">
            <a:avLst/>
          </a:prstGeom>
          <a:ln cmpd="sng">
            <a:solidFill>
              <a:schemeClr val="tx1">
                <a:lumMod val="75000"/>
                <a:lumOff val="25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 descr="Time line">
            <a:extLst>
              <a:ext uri="{FF2B5EF4-FFF2-40B4-BE49-F238E27FC236}">
                <a16:creationId xmlns:a16="http://schemas.microsoft.com/office/drawing/2014/main" id="{0ECD7D0F-80D1-4D75-A17F-3E2E46570DE4}"/>
              </a:ext>
            </a:extLst>
          </p:cNvPr>
          <p:cNvCxnSpPr>
            <a:cxnSpLocks/>
          </p:cNvCxnSpPr>
          <p:nvPr/>
        </p:nvCxnSpPr>
        <p:spPr>
          <a:xfrm flipH="1">
            <a:off x="1216837" y="6165627"/>
            <a:ext cx="10432744" cy="0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 title="Milestone">
            <a:extLst>
              <a:ext uri="{FF2B5EF4-FFF2-40B4-BE49-F238E27FC236}">
                <a16:creationId xmlns:a16="http://schemas.microsoft.com/office/drawing/2014/main" id="{CD4546D9-BBF6-3DCD-2D92-E1162172EF2A}"/>
              </a:ext>
            </a:extLst>
          </p:cNvPr>
          <p:cNvGrpSpPr/>
          <p:nvPr/>
        </p:nvGrpSpPr>
        <p:grpSpPr>
          <a:xfrm>
            <a:off x="5087807" y="3108637"/>
            <a:ext cx="1293541" cy="1238805"/>
            <a:chOff x="2705607" y="3673042"/>
            <a:chExt cx="1560061" cy="753790"/>
          </a:xfrm>
        </p:grpSpPr>
        <p:grpSp>
          <p:nvGrpSpPr>
            <p:cNvPr id="24" name="Group 23" title="Milestone Text">
              <a:extLst>
                <a:ext uri="{FF2B5EF4-FFF2-40B4-BE49-F238E27FC236}">
                  <a16:creationId xmlns:a16="http://schemas.microsoft.com/office/drawing/2014/main" id="{8250DFA9-C624-77AF-033C-F71066CAC730}"/>
                </a:ext>
              </a:extLst>
            </p:cNvPr>
            <p:cNvGrpSpPr/>
            <p:nvPr/>
          </p:nvGrpSpPr>
          <p:grpSpPr>
            <a:xfrm>
              <a:off x="2715461" y="3673042"/>
              <a:ext cx="1550207" cy="623676"/>
              <a:chOff x="1151034" y="2186651"/>
              <a:chExt cx="1550207" cy="623676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3A1B58A-C9B5-BEE3-D6C3-59472718A2F6}"/>
                  </a:ext>
                </a:extLst>
              </p:cNvPr>
              <p:cNvSpPr txBox="1"/>
              <p:nvPr/>
            </p:nvSpPr>
            <p:spPr>
              <a:xfrm>
                <a:off x="1151034" y="2186651"/>
                <a:ext cx="1550207" cy="3558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>
                    <a:solidFill>
                      <a:schemeClr val="bg1">
                        <a:lumMod val="85000"/>
                      </a:schemeClr>
                    </a:solidFill>
                  </a:rPr>
                  <a:t>Pilot Medical Route</a:t>
                </a:r>
                <a:br>
                  <a:rPr lang="en-US" sz="1400" dirty="0">
                    <a:solidFill>
                      <a:schemeClr val="bg1">
                        <a:lumMod val="85000"/>
                      </a:schemeClr>
                    </a:solidFill>
                  </a:rPr>
                </a:br>
                <a:r>
                  <a:rPr lang="en-US" sz="700" dirty="0">
                    <a:solidFill>
                      <a:schemeClr val="bg1">
                        <a:lumMod val="85000"/>
                      </a:schemeClr>
                    </a:solidFill>
                  </a:rPr>
                  <a:t>utilizing S01; only demonstration</a:t>
                </a:r>
                <a:endParaRPr lang="en-US" sz="8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60E1F65-B594-BB92-6C65-6CD30392835F}"/>
                  </a:ext>
                </a:extLst>
              </p:cNvPr>
              <p:cNvSpPr txBox="1"/>
              <p:nvPr/>
            </p:nvSpPr>
            <p:spPr>
              <a:xfrm>
                <a:off x="1219683" y="2669320"/>
                <a:ext cx="1294780" cy="14100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r>
                  <a:rPr lang="en-US" sz="1000" dirty="0">
                    <a:solidFill>
                      <a:schemeClr val="bg1">
                        <a:lumMod val="85000"/>
                      </a:schemeClr>
                    </a:solidFill>
                  </a:rPr>
                  <a:t>Q3 2027</a:t>
                </a:r>
              </a:p>
            </p:txBody>
          </p:sp>
        </p:grpSp>
        <p:sp>
          <p:nvSpPr>
            <p:cNvPr id="27" name="Rectangle: Rounded Corners 26" title="Milestone Graphic">
              <a:extLst>
                <a:ext uri="{FF2B5EF4-FFF2-40B4-BE49-F238E27FC236}">
                  <a16:creationId xmlns:a16="http://schemas.microsoft.com/office/drawing/2014/main" id="{B367B911-FB6C-EEB6-CA49-AD2831620511}"/>
                </a:ext>
              </a:extLst>
            </p:cNvPr>
            <p:cNvSpPr/>
            <p:nvPr/>
          </p:nvSpPr>
          <p:spPr>
            <a:xfrm>
              <a:off x="2705607" y="4339211"/>
              <a:ext cx="738992" cy="87621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</p:grpSp>
      <p:grpSp>
        <p:nvGrpSpPr>
          <p:cNvPr id="32" name="Group 31" title="Milestone">
            <a:extLst>
              <a:ext uri="{FF2B5EF4-FFF2-40B4-BE49-F238E27FC236}">
                <a16:creationId xmlns:a16="http://schemas.microsoft.com/office/drawing/2014/main" id="{32554039-441F-3F66-5091-2B34A8AA36E7}"/>
              </a:ext>
            </a:extLst>
          </p:cNvPr>
          <p:cNvGrpSpPr/>
          <p:nvPr/>
        </p:nvGrpSpPr>
        <p:grpSpPr>
          <a:xfrm>
            <a:off x="5711466" y="2973816"/>
            <a:ext cx="1622799" cy="1116929"/>
            <a:chOff x="2241844" y="3747201"/>
            <a:chExt cx="1957160" cy="679631"/>
          </a:xfrm>
        </p:grpSpPr>
        <p:grpSp>
          <p:nvGrpSpPr>
            <p:cNvPr id="33" name="Group 32" title="Milestone Text">
              <a:extLst>
                <a:ext uri="{FF2B5EF4-FFF2-40B4-BE49-F238E27FC236}">
                  <a16:creationId xmlns:a16="http://schemas.microsoft.com/office/drawing/2014/main" id="{3D7A2969-8E6F-76EE-2852-58F59F7300FF}"/>
                </a:ext>
              </a:extLst>
            </p:cNvPr>
            <p:cNvGrpSpPr/>
            <p:nvPr/>
          </p:nvGrpSpPr>
          <p:grpSpPr>
            <a:xfrm>
              <a:off x="2642714" y="3747201"/>
              <a:ext cx="1556290" cy="553617"/>
              <a:chOff x="1078287" y="2260810"/>
              <a:chExt cx="1556290" cy="553617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E30C0F6-AE41-DA64-C070-2CC0E88D9C0A}"/>
                  </a:ext>
                </a:extLst>
              </p:cNvPr>
              <p:cNvSpPr txBox="1"/>
              <p:nvPr/>
            </p:nvSpPr>
            <p:spPr>
              <a:xfrm>
                <a:off x="1084370" y="2260810"/>
                <a:ext cx="1550207" cy="3558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>
                    <a:solidFill>
                      <a:schemeClr val="bg1">
                        <a:lumMod val="85000"/>
                      </a:schemeClr>
                    </a:solidFill>
                  </a:rPr>
                  <a:t>Initial ORGOfly service</a:t>
                </a:r>
                <a:br>
                  <a:rPr lang="en-US" sz="1400" dirty="0">
                    <a:solidFill>
                      <a:schemeClr val="bg1">
                        <a:lumMod val="85000"/>
                      </a:schemeClr>
                    </a:solidFill>
                  </a:rPr>
                </a:br>
                <a:r>
                  <a:rPr lang="en-US" sz="700" dirty="0">
                    <a:solidFill>
                      <a:schemeClr val="bg1">
                        <a:lumMod val="85000"/>
                      </a:schemeClr>
                    </a:solidFill>
                  </a:rPr>
                  <a:t>2-3x S01;</a:t>
                </a:r>
                <a:br>
                  <a:rPr lang="en-US" sz="700" dirty="0">
                    <a:solidFill>
                      <a:schemeClr val="bg1">
                        <a:lumMod val="85000"/>
                      </a:schemeClr>
                    </a:solidFill>
                  </a:rPr>
                </a:br>
                <a:r>
                  <a:rPr lang="en-US" sz="700" dirty="0">
                    <a:solidFill>
                      <a:schemeClr val="bg1">
                        <a:lumMod val="85000"/>
                      </a:schemeClr>
                    </a:solidFill>
                  </a:rPr>
                  <a:t>commercial service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79C9887-00CE-C55E-4812-97730E8AD8B6}"/>
                  </a:ext>
                </a:extLst>
              </p:cNvPr>
              <p:cNvSpPr txBox="1"/>
              <p:nvPr/>
            </p:nvSpPr>
            <p:spPr>
              <a:xfrm>
                <a:off x="1078287" y="2673420"/>
                <a:ext cx="1294780" cy="14100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r>
                  <a:rPr lang="en-US" sz="1000" dirty="0">
                    <a:solidFill>
                      <a:schemeClr val="bg1">
                        <a:lumMod val="85000"/>
                      </a:schemeClr>
                    </a:solidFill>
                  </a:rPr>
                  <a:t>Q1 2028</a:t>
                </a:r>
              </a:p>
            </p:txBody>
          </p:sp>
        </p:grpSp>
        <p:sp>
          <p:nvSpPr>
            <p:cNvPr id="34" name="Rectangle: Rounded Corners 33" title="Milestone Graphic">
              <a:extLst>
                <a:ext uri="{FF2B5EF4-FFF2-40B4-BE49-F238E27FC236}">
                  <a16:creationId xmlns:a16="http://schemas.microsoft.com/office/drawing/2014/main" id="{8BB52180-1EE8-DE59-5CBF-8FCA1BAD537E}"/>
                </a:ext>
              </a:extLst>
            </p:cNvPr>
            <p:cNvSpPr/>
            <p:nvPr/>
          </p:nvSpPr>
          <p:spPr>
            <a:xfrm>
              <a:off x="2241844" y="4339211"/>
              <a:ext cx="1561292" cy="87621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</p:grpSp>
      <p:grpSp>
        <p:nvGrpSpPr>
          <p:cNvPr id="40" name="Group 39" title="Milestone">
            <a:extLst>
              <a:ext uri="{FF2B5EF4-FFF2-40B4-BE49-F238E27FC236}">
                <a16:creationId xmlns:a16="http://schemas.microsoft.com/office/drawing/2014/main" id="{48ACB85F-FC73-2E5C-ABA1-CFB976E8EC7B}"/>
              </a:ext>
            </a:extLst>
          </p:cNvPr>
          <p:cNvGrpSpPr/>
          <p:nvPr/>
        </p:nvGrpSpPr>
        <p:grpSpPr>
          <a:xfrm>
            <a:off x="4527632" y="1685824"/>
            <a:ext cx="3772962" cy="1128846"/>
            <a:chOff x="-468624" y="4273657"/>
            <a:chExt cx="3078784" cy="578528"/>
          </a:xfrm>
        </p:grpSpPr>
        <p:grpSp>
          <p:nvGrpSpPr>
            <p:cNvPr id="42" name="Group 41" title="Milestone Text">
              <a:extLst>
                <a:ext uri="{FF2B5EF4-FFF2-40B4-BE49-F238E27FC236}">
                  <a16:creationId xmlns:a16="http://schemas.microsoft.com/office/drawing/2014/main" id="{E8C4748B-0459-1FD8-0B30-9185A0C68840}"/>
                </a:ext>
              </a:extLst>
            </p:cNvPr>
            <p:cNvGrpSpPr/>
            <p:nvPr/>
          </p:nvGrpSpPr>
          <p:grpSpPr>
            <a:xfrm>
              <a:off x="1191627" y="4273657"/>
              <a:ext cx="1418533" cy="428551"/>
              <a:chOff x="1623720" y="3987001"/>
              <a:chExt cx="1418533" cy="428551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02FD249-0DB1-BF85-85EE-34215D949B5D}"/>
                  </a:ext>
                </a:extLst>
              </p:cNvPr>
              <p:cNvSpPr txBox="1"/>
              <p:nvPr/>
            </p:nvSpPr>
            <p:spPr>
              <a:xfrm>
                <a:off x="1623720" y="3987001"/>
                <a:ext cx="1418533" cy="2444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>
                    <a:solidFill>
                      <a:schemeClr val="bg1">
                        <a:lumMod val="85000"/>
                      </a:schemeClr>
                    </a:solidFill>
                  </a:rPr>
                  <a:t>L01 Large ORGOfly Aircraft </a:t>
                </a:r>
                <a:r>
                  <a:rPr lang="en-US" sz="1200" dirty="0" err="1">
                    <a:solidFill>
                      <a:schemeClr val="bg1">
                        <a:lumMod val="85000"/>
                      </a:schemeClr>
                    </a:solidFill>
                  </a:rPr>
                  <a:t>programme</a:t>
                </a:r>
                <a:br>
                  <a:rPr lang="en-US" sz="1400" dirty="0">
                    <a:solidFill>
                      <a:schemeClr val="bg1">
                        <a:lumMod val="85000"/>
                      </a:schemeClr>
                    </a:solidFill>
                  </a:rPr>
                </a:br>
                <a:r>
                  <a:rPr lang="en-US" sz="700" dirty="0">
                    <a:solidFill>
                      <a:schemeClr val="bg1">
                        <a:lumMod val="85000"/>
                      </a:schemeClr>
                    </a:solidFill>
                  </a:rPr>
                  <a:t>Hybrid Propulsion System; Intercity</a:t>
                </a:r>
                <a:endParaRPr lang="en-US" sz="10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E1CDCED-30C0-15E5-DE76-4A192D220A8C}"/>
                  </a:ext>
                </a:extLst>
              </p:cNvPr>
              <p:cNvSpPr txBox="1"/>
              <p:nvPr/>
            </p:nvSpPr>
            <p:spPr>
              <a:xfrm>
                <a:off x="1654564" y="4312861"/>
                <a:ext cx="1294781" cy="1026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r>
                  <a:rPr lang="en-US" sz="1000" dirty="0">
                    <a:solidFill>
                      <a:schemeClr val="bg1">
                        <a:lumMod val="85000"/>
                      </a:schemeClr>
                    </a:solidFill>
                  </a:rPr>
                  <a:t>Q3 2028</a:t>
                </a:r>
              </a:p>
            </p:txBody>
          </p:sp>
        </p:grpSp>
        <p:sp>
          <p:nvSpPr>
            <p:cNvPr id="43" name="Rectangle: Rounded Corners 42" title="Milestone Graphic">
              <a:extLst>
                <a:ext uri="{FF2B5EF4-FFF2-40B4-BE49-F238E27FC236}">
                  <a16:creationId xmlns:a16="http://schemas.microsoft.com/office/drawing/2014/main" id="{ADD8BB22-5E34-4F12-D086-FECFEF9A0D7E}"/>
                </a:ext>
              </a:extLst>
            </p:cNvPr>
            <p:cNvSpPr/>
            <p:nvPr/>
          </p:nvSpPr>
          <p:spPr>
            <a:xfrm>
              <a:off x="-468624" y="4777678"/>
              <a:ext cx="3078784" cy="74507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</p:grpSp>
      <p:grpSp>
        <p:nvGrpSpPr>
          <p:cNvPr id="48" name="Group 47" title="Milestone">
            <a:extLst>
              <a:ext uri="{FF2B5EF4-FFF2-40B4-BE49-F238E27FC236}">
                <a16:creationId xmlns:a16="http://schemas.microsoft.com/office/drawing/2014/main" id="{419F5944-6CD0-6426-CD16-284CD2CC0557}"/>
              </a:ext>
            </a:extLst>
          </p:cNvPr>
          <p:cNvGrpSpPr/>
          <p:nvPr/>
        </p:nvGrpSpPr>
        <p:grpSpPr>
          <a:xfrm>
            <a:off x="3109660" y="3555141"/>
            <a:ext cx="851720" cy="1327465"/>
            <a:chOff x="3239864" y="3824235"/>
            <a:chExt cx="1344070" cy="577636"/>
          </a:xfrm>
        </p:grpSpPr>
        <p:grpSp>
          <p:nvGrpSpPr>
            <p:cNvPr id="49" name="Group 48" title="Milestone Text">
              <a:extLst>
                <a:ext uri="{FF2B5EF4-FFF2-40B4-BE49-F238E27FC236}">
                  <a16:creationId xmlns:a16="http://schemas.microsoft.com/office/drawing/2014/main" id="{E24B42A1-96AE-BEF0-63A8-1800AD214FA3}"/>
                </a:ext>
              </a:extLst>
            </p:cNvPr>
            <p:cNvGrpSpPr/>
            <p:nvPr/>
          </p:nvGrpSpPr>
          <p:grpSpPr>
            <a:xfrm>
              <a:off x="3239864" y="3824235"/>
              <a:ext cx="1344070" cy="543176"/>
              <a:chOff x="1675437" y="2337844"/>
              <a:chExt cx="1344070" cy="543176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9AA2F39-1DF4-CB48-64E5-24D1F558D1DB}"/>
                  </a:ext>
                </a:extLst>
              </p:cNvPr>
              <p:cNvSpPr txBox="1"/>
              <p:nvPr/>
            </p:nvSpPr>
            <p:spPr>
              <a:xfrm>
                <a:off x="1677709" y="2337844"/>
                <a:ext cx="1341798" cy="3549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>
                    <a:solidFill>
                      <a:schemeClr val="bg1">
                        <a:lumMod val="85000"/>
                      </a:schemeClr>
                    </a:solidFill>
                  </a:rPr>
                  <a:t>Flight-test campaign</a:t>
                </a:r>
                <a:br>
                  <a:rPr lang="en-US" sz="1400" dirty="0">
                    <a:solidFill>
                      <a:schemeClr val="bg1">
                        <a:lumMod val="85000"/>
                      </a:schemeClr>
                    </a:solidFill>
                  </a:rPr>
                </a:br>
                <a:r>
                  <a:rPr lang="en-US" sz="700" dirty="0">
                    <a:solidFill>
                      <a:schemeClr val="bg1">
                        <a:lumMod val="85000"/>
                      </a:schemeClr>
                    </a:solidFill>
                  </a:rPr>
                  <a:t>banner towing for gathering flight data and experience</a:t>
                </a:r>
                <a:br>
                  <a:rPr lang="en-US" sz="700" dirty="0">
                    <a:solidFill>
                      <a:schemeClr val="bg1">
                        <a:lumMod val="85000"/>
                      </a:schemeClr>
                    </a:solidFill>
                  </a:rPr>
                </a:br>
                <a:r>
                  <a:rPr lang="en-US" sz="700" dirty="0">
                    <a:solidFill>
                      <a:schemeClr val="bg1">
                        <a:lumMod val="85000"/>
                      </a:schemeClr>
                    </a:solidFill>
                  </a:rPr>
                  <a:t>Banner towing?</a:t>
                </a:r>
                <a:endParaRPr lang="en-US" sz="8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3C53BC9-10A0-CC0E-99E2-A1AD44264AFE}"/>
                  </a:ext>
                </a:extLst>
              </p:cNvPr>
              <p:cNvSpPr txBox="1"/>
              <p:nvPr/>
            </p:nvSpPr>
            <p:spPr>
              <a:xfrm>
                <a:off x="1675437" y="2740013"/>
                <a:ext cx="1294781" cy="14100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r>
                  <a:rPr lang="en-US" sz="1000" dirty="0">
                    <a:solidFill>
                      <a:schemeClr val="bg1">
                        <a:lumMod val="85000"/>
                      </a:schemeClr>
                    </a:solidFill>
                  </a:rPr>
                  <a:t>Q4 2026</a:t>
                </a:r>
              </a:p>
            </p:txBody>
          </p:sp>
        </p:grpSp>
        <p:sp>
          <p:nvSpPr>
            <p:cNvPr id="50" name="Rectangle: Rounded Corners 49" title="Milestone Graphic">
              <a:extLst>
                <a:ext uri="{FF2B5EF4-FFF2-40B4-BE49-F238E27FC236}">
                  <a16:creationId xmlns:a16="http://schemas.microsoft.com/office/drawing/2014/main" id="{FCDC9051-BE2D-8BE5-4632-5DDECD4CBEFA}"/>
                </a:ext>
              </a:extLst>
            </p:cNvPr>
            <p:cNvSpPr>
              <a:spLocks/>
            </p:cNvSpPr>
            <p:nvPr/>
          </p:nvSpPr>
          <p:spPr>
            <a:xfrm>
              <a:off x="3242136" y="4339211"/>
              <a:ext cx="1039187" cy="6266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</p:grpSp>
      <p:grpSp>
        <p:nvGrpSpPr>
          <p:cNvPr id="55" name="Group 54" title="Milestone">
            <a:extLst>
              <a:ext uri="{FF2B5EF4-FFF2-40B4-BE49-F238E27FC236}">
                <a16:creationId xmlns:a16="http://schemas.microsoft.com/office/drawing/2014/main" id="{68CB4834-F0E1-C67A-E0AE-1BE40812201F}"/>
              </a:ext>
            </a:extLst>
          </p:cNvPr>
          <p:cNvGrpSpPr/>
          <p:nvPr/>
        </p:nvGrpSpPr>
        <p:grpSpPr>
          <a:xfrm>
            <a:off x="8967042" y="1490636"/>
            <a:ext cx="1592794" cy="916414"/>
            <a:chOff x="2241844" y="3869211"/>
            <a:chExt cx="1920973" cy="557621"/>
          </a:xfrm>
        </p:grpSpPr>
        <p:grpSp>
          <p:nvGrpSpPr>
            <p:cNvPr id="57" name="Group 56" title="Milestone Text">
              <a:extLst>
                <a:ext uri="{FF2B5EF4-FFF2-40B4-BE49-F238E27FC236}">
                  <a16:creationId xmlns:a16="http://schemas.microsoft.com/office/drawing/2014/main" id="{98548A9E-289A-2337-8B26-3AA6CC65D71C}"/>
                </a:ext>
              </a:extLst>
            </p:cNvPr>
            <p:cNvGrpSpPr/>
            <p:nvPr/>
          </p:nvGrpSpPr>
          <p:grpSpPr>
            <a:xfrm>
              <a:off x="2612610" y="3869211"/>
              <a:ext cx="1550207" cy="431607"/>
              <a:chOff x="1048183" y="2382820"/>
              <a:chExt cx="1550207" cy="431607"/>
            </a:xfrm>
          </p:grpSpPr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545D7A1-B71F-5690-F7DD-CAA3D9722E71}"/>
                  </a:ext>
                </a:extLst>
              </p:cNvPr>
              <p:cNvSpPr txBox="1"/>
              <p:nvPr/>
            </p:nvSpPr>
            <p:spPr>
              <a:xfrm>
                <a:off x="1048183" y="2382820"/>
                <a:ext cx="1550207" cy="2247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>
                    <a:solidFill>
                      <a:schemeClr val="bg1">
                        <a:lumMod val="85000"/>
                      </a:schemeClr>
                    </a:solidFill>
                  </a:rPr>
                  <a:t>L01 Commercial Operation</a:t>
                </a:r>
                <a:endParaRPr lang="en-US" sz="7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9557A2A-C70D-1752-93D9-707A81F4938C}"/>
                  </a:ext>
                </a:extLst>
              </p:cNvPr>
              <p:cNvSpPr txBox="1"/>
              <p:nvPr/>
            </p:nvSpPr>
            <p:spPr>
              <a:xfrm>
                <a:off x="1078287" y="2673420"/>
                <a:ext cx="1294780" cy="14100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r>
                  <a:rPr lang="en-US" sz="1000" dirty="0">
                    <a:solidFill>
                      <a:schemeClr val="bg1">
                        <a:lumMod val="85000"/>
                      </a:schemeClr>
                    </a:solidFill>
                  </a:rPr>
                  <a:t>2029???</a:t>
                </a:r>
              </a:p>
            </p:txBody>
          </p:sp>
        </p:grpSp>
        <p:sp>
          <p:nvSpPr>
            <p:cNvPr id="58" name="Rectangle: Rounded Corners 57" title="Milestone Graphic">
              <a:extLst>
                <a:ext uri="{FF2B5EF4-FFF2-40B4-BE49-F238E27FC236}">
                  <a16:creationId xmlns:a16="http://schemas.microsoft.com/office/drawing/2014/main" id="{2041ACAC-BE7B-C099-543B-6207B5C015D1}"/>
                </a:ext>
              </a:extLst>
            </p:cNvPr>
            <p:cNvSpPr/>
            <p:nvPr/>
          </p:nvSpPr>
          <p:spPr>
            <a:xfrm>
              <a:off x="2241844" y="4339211"/>
              <a:ext cx="1561292" cy="87621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091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4C3D7-9291-7EE8-9301-8AF5DDB7A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ORGO Aircrafts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6FEA3B-5987-4C26-EA32-EC52C2234E33}"/>
              </a:ext>
            </a:extLst>
          </p:cNvPr>
          <p:cNvSpPr txBox="1"/>
          <p:nvPr/>
        </p:nvSpPr>
        <p:spPr>
          <a:xfrm>
            <a:off x="426000" y="1451811"/>
            <a:ext cx="11340000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dirty="0">
                <a:solidFill>
                  <a:schemeClr val="bg1"/>
                </a:solidFill>
              </a:rPr>
              <a:t>Two separate Aircraft Concepts: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bg1"/>
                </a:solidFill>
              </a:rPr>
              <a:t>Small ORGOfly:</a:t>
            </a:r>
            <a:r>
              <a:rPr lang="en-GB" dirty="0">
                <a:solidFill>
                  <a:schemeClr val="bg1"/>
                </a:solidFill>
              </a:rPr>
              <a:t> 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bg1"/>
                </a:solidFill>
              </a:rPr>
              <a:t>routine and urgent blood, plasma, samples and lightweight medical logistics</a:t>
            </a:r>
          </a:p>
          <a:p>
            <a:pPr>
              <a:spcAft>
                <a:spcPts val="600"/>
              </a:spcAft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bg1"/>
                </a:solidFill>
              </a:rPr>
              <a:t>Large ORGOfly:</a:t>
            </a:r>
            <a:r>
              <a:rPr lang="en-GB" dirty="0">
                <a:solidFill>
                  <a:schemeClr val="bg1"/>
                </a:solidFill>
              </a:rPr>
              <a:t> </a:t>
            </a:r>
          </a:p>
          <a:p>
            <a:r>
              <a:rPr lang="en-GB" dirty="0">
                <a:solidFill>
                  <a:schemeClr val="bg1"/>
                </a:solidFill>
              </a:rPr>
              <a:t>long-range, higher-payload, extremely time-critical missions including organ transport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234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6">
      <a:dk1>
        <a:sysClr val="windowText" lastClr="000000"/>
      </a:dk1>
      <a:lt1>
        <a:sysClr val="window" lastClr="FFFFFF"/>
      </a:lt1>
      <a:dk2>
        <a:srgbClr val="12121E"/>
      </a:dk2>
      <a:lt2>
        <a:srgbClr val="F2F2F2"/>
      </a:lt2>
      <a:accent1>
        <a:srgbClr val="FCD9C4"/>
      </a:accent1>
      <a:accent2>
        <a:srgbClr val="8CE7F3"/>
      </a:accent2>
      <a:accent3>
        <a:srgbClr val="D6F2B0"/>
      </a:accent3>
      <a:accent4>
        <a:srgbClr val="ECAED0"/>
      </a:accent4>
      <a:accent5>
        <a:srgbClr val="F9BD99"/>
      </a:accent5>
      <a:accent6>
        <a:srgbClr val="A7E356"/>
      </a:accent6>
      <a:hlink>
        <a:srgbClr val="FCD9C4"/>
      </a:hlink>
      <a:folHlink>
        <a:srgbClr val="FCD9C4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6411197_Roadmap timeline dark_AAS_v4" id="{E798BBB9-4F62-4294-8011-DE68DFE9A0E7}" vid="{A07C9B6C-F13F-4C0C-BAE3-1563A12214D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E5E7A17D-BBDB-403A-9504-99E108A8DC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FE1FF35-CEAD-40A2-9669-2DC78ABFAF4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B177D8D-96D1-46BF-9E33-F0004E4FA58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Roadmap timeline dark</Template>
  <TotalTime>67</TotalTime>
  <Words>143</Words>
  <Application>Microsoft Office PowerPoint</Application>
  <PresentationFormat>Widescreen</PresentationFormat>
  <Paragraphs>50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Trebuchet MS</vt:lpstr>
      <vt:lpstr>Office Theme</vt:lpstr>
      <vt:lpstr>ORGOfly An airborne medical-logistics system</vt:lpstr>
      <vt:lpstr>Company Roadmap</vt:lpstr>
      <vt:lpstr>ORGO Aircrafts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Nikolov, Aleksandar</dc:creator>
  <cp:lastModifiedBy>Nikolov, Aleksandar</cp:lastModifiedBy>
  <cp:revision>9</cp:revision>
  <dcterms:created xsi:type="dcterms:W3CDTF">2026-08-12T18:12:39Z</dcterms:created>
  <dcterms:modified xsi:type="dcterms:W3CDTF">2026-08-13T14:47:18Z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dad116a5-35f0-4733-81bd-339106ca795f_Enabled">
    <vt:lpwstr>true</vt:lpwstr>
  </property>
  <property fmtid="{D5CDD505-2E9C-101B-9397-08002B2CF9AE}" pid="4" name="MSIP_Label_dad116a5-35f0-4733-81bd-339106ca795f_SetDate">
    <vt:lpwstr>2026-08-12T18:15:51Z</vt:lpwstr>
  </property>
  <property fmtid="{D5CDD505-2E9C-101B-9397-08002B2CF9AE}" pid="5" name="MSIP_Label_dad116a5-35f0-4733-81bd-339106ca795f_Method">
    <vt:lpwstr>Standard</vt:lpwstr>
  </property>
  <property fmtid="{D5CDD505-2E9C-101B-9397-08002B2CF9AE}" pid="6" name="MSIP_Label_dad116a5-35f0-4733-81bd-339106ca795f_Name">
    <vt:lpwstr>Sensata Internal</vt:lpwstr>
  </property>
  <property fmtid="{D5CDD505-2E9C-101B-9397-08002B2CF9AE}" pid="7" name="MSIP_Label_dad116a5-35f0-4733-81bd-339106ca795f_SiteId">
    <vt:lpwstr>8fe11266-3a2b-494f-b7ce-92bc201dc2ab</vt:lpwstr>
  </property>
  <property fmtid="{D5CDD505-2E9C-101B-9397-08002B2CF9AE}" pid="8" name="MSIP_Label_dad116a5-35f0-4733-81bd-339106ca795f_ActionId">
    <vt:lpwstr>85b96203-0cb9-4cd7-aa16-575a8ccad0fb</vt:lpwstr>
  </property>
  <property fmtid="{D5CDD505-2E9C-101B-9397-08002B2CF9AE}" pid="9" name="MSIP_Label_dad116a5-35f0-4733-81bd-339106ca795f_ContentBits">
    <vt:lpwstr>0</vt:lpwstr>
  </property>
  <property fmtid="{D5CDD505-2E9C-101B-9397-08002B2CF9AE}" pid="10" name="MSIP_Label_dad116a5-35f0-4733-81bd-339106ca795f_Tag">
    <vt:lpwstr>10, 3, 0, 1</vt:lpwstr>
  </property>
</Properties>
</file>